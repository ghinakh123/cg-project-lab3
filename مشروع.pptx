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5C82-087E-4111-BD59-36A40CA92E7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CFEF023-1DBE-4F49-B53A-0B799FEA3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49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5C82-087E-4111-BD59-36A40CA92E7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F023-1DBE-4F49-B53A-0B799FEA3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59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5C82-087E-4111-BD59-36A40CA92E7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CFEF023-1DBE-4F49-B53A-0B799FEA3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49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5C82-087E-4111-BD59-36A40CA92E7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CFEF023-1DBE-4F49-B53A-0B799FEA3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55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5C82-087E-4111-BD59-36A40CA92E7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CFEF023-1DBE-4F49-B53A-0B799FEA3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50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5C82-087E-4111-BD59-36A40CA92E7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F023-1DBE-4F49-B53A-0B799FEA3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897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5C82-087E-4111-BD59-36A40CA92E7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F023-1DBE-4F49-B53A-0B799FEA3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89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5C82-087E-4111-BD59-36A40CA92E7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F023-1DBE-4F49-B53A-0B799FEA3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623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5C82-087E-4111-BD59-36A40CA92E7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CFEF023-1DBE-4F49-B53A-0B799FEA3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37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5C82-087E-4111-BD59-36A40CA92E7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CFEF023-1DBE-4F49-B53A-0B799FEA3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26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5C82-087E-4111-BD59-36A40CA92E7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CFEF023-1DBE-4F49-B53A-0B799FEA38C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7143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5C82-087E-4111-BD59-36A40CA92E7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CFEF023-1DBE-4F49-B53A-0B799FEA3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02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5C82-087E-4111-BD59-36A40CA92E7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CFEF023-1DBE-4F49-B53A-0B799FEA38C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5850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5C82-087E-4111-BD59-36A40CA92E7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CFEF023-1DBE-4F49-B53A-0B799FEA3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560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5C82-087E-4111-BD59-36A40CA92E7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F023-1DBE-4F49-B53A-0B799FEA3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152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5C82-087E-4111-BD59-36A40CA92E7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F023-1DBE-4F49-B53A-0B799FEA3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530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75C82-087E-4111-BD59-36A40CA92E7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CFEF023-1DBE-4F49-B53A-0B799FEA3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82AA5-C42C-47D7-1A77-52F9E061A3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CG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8F1D99-1B7B-AF8B-C921-14AAD48BEF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6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54E22-A163-9457-546D-87D285913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ar-SY" dirty="0"/>
              <a:t>فكرة المشروع: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6691E-1C8A-A5EF-D587-AF76794B8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81328"/>
            <a:ext cx="8915400" cy="4529894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sz="2400" dirty="0"/>
              <a:t>                 : </a:t>
            </a:r>
            <a:r>
              <a:rPr lang="ar-SY" sz="2400" dirty="0"/>
              <a:t>تم تصميم نظام إشارة مرور تفاعلي باستخدام </a:t>
            </a:r>
            <a:endParaRPr lang="en-US" sz="2400" dirty="0"/>
          </a:p>
          <a:p>
            <a:pPr marL="0" indent="0" algn="r">
              <a:buNone/>
            </a:pPr>
            <a:r>
              <a:rPr lang="en-US" sz="2400" dirty="0"/>
              <a:t>   OPENGL</a:t>
            </a:r>
          </a:p>
          <a:p>
            <a:pPr marL="0" indent="0" algn="r">
              <a:buNone/>
            </a:pPr>
            <a:r>
              <a:rPr lang="ar-SY" sz="2400" dirty="0"/>
              <a:t>يتكون المشروع من:</a:t>
            </a:r>
          </a:p>
          <a:p>
            <a:pPr marL="0" indent="0" algn="r">
              <a:buNone/>
            </a:pPr>
            <a:r>
              <a:rPr lang="ar-SY" sz="2400" dirty="0"/>
              <a:t>1- مثلث يمثل اطار الإشارة</a:t>
            </a:r>
          </a:p>
          <a:p>
            <a:pPr marL="0" indent="0" algn="r">
              <a:buNone/>
            </a:pPr>
            <a:r>
              <a:rPr lang="ar-SY" sz="2400" dirty="0"/>
              <a:t>2-ثلاث دوائر تمثل الألوان(احمر, اصفر, اخضر)</a:t>
            </a:r>
          </a:p>
          <a:p>
            <a:pPr marL="0" indent="0" algn="r">
              <a:buNone/>
            </a:pPr>
            <a:r>
              <a:rPr lang="ar-SY" sz="2400" dirty="0"/>
              <a:t>3- إمكانية التحكم بالإشارة باستخدام لوحة المفاتيح</a:t>
            </a:r>
          </a:p>
          <a:p>
            <a:pPr marL="0" indent="0" algn="r">
              <a:buNone/>
            </a:pPr>
            <a:r>
              <a:rPr lang="ar-SY" sz="2400" dirty="0"/>
              <a:t>(الهدف من المشروع هو تطبيق مفاهيم الرسوميات الحاسوبية عمليا باستخدام الأدوات التي دراستها)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9882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7BB58-922A-B86F-A66E-5EA78E70F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ar-SY" dirty="0"/>
              <a:t>التقنيات المستخدمة:</a:t>
            </a:r>
            <a:br>
              <a:rPr lang="ar-SY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9F0AE-C13C-CCDF-BF00-E20E35E7A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49421"/>
            <a:ext cx="8915400" cy="4461801"/>
          </a:xfrm>
        </p:spPr>
        <p:txBody>
          <a:bodyPr/>
          <a:lstStyle/>
          <a:p>
            <a:pPr marL="0" indent="0" algn="r">
              <a:buNone/>
            </a:pPr>
            <a:r>
              <a:rPr lang="ar-SY" dirty="0"/>
              <a:t> </a:t>
            </a:r>
            <a:r>
              <a:rPr lang="en-US" dirty="0"/>
              <a:t> </a:t>
            </a:r>
            <a:r>
              <a:rPr lang="ar-SY" dirty="0"/>
              <a:t> الحديثة.</a:t>
            </a:r>
            <a:r>
              <a:rPr lang="en-US" dirty="0"/>
              <a:t>OPENGL</a:t>
            </a:r>
            <a:r>
              <a:rPr lang="ar-SY" dirty="0" err="1"/>
              <a:t>لانشاء</a:t>
            </a:r>
            <a:r>
              <a:rPr lang="ar-SY" dirty="0"/>
              <a:t> النافذة و معالجة الادخال و </a:t>
            </a:r>
            <a:r>
              <a:rPr lang="ar-SY" dirty="0" err="1"/>
              <a:t>و</a:t>
            </a:r>
            <a:r>
              <a:rPr lang="ar-SY" dirty="0"/>
              <a:t> لتحميل دوال </a:t>
            </a:r>
            <a:r>
              <a:rPr lang="en-US" dirty="0"/>
              <a:t>:GLEW</a:t>
            </a:r>
            <a:endParaRPr lang="ar-SY" dirty="0"/>
          </a:p>
          <a:p>
            <a:pPr marL="0" indent="0" algn="r">
              <a:buNone/>
            </a:pPr>
            <a:r>
              <a:rPr lang="ar-SY" dirty="0"/>
              <a:t> لتنظيم بيانات الرسم.</a:t>
            </a:r>
            <a:r>
              <a:rPr lang="en-US" dirty="0"/>
              <a:t>:VAO</a:t>
            </a:r>
            <a:endParaRPr lang="ar-SY" dirty="0"/>
          </a:p>
          <a:p>
            <a:pPr marL="0" indent="0" algn="r">
              <a:buNone/>
            </a:pPr>
            <a:r>
              <a:rPr lang="ar-SY" dirty="0"/>
              <a:t>:لتخزين بيانات الرؤوس</a:t>
            </a:r>
            <a:r>
              <a:rPr lang="en-US" dirty="0"/>
              <a:t>VBO</a:t>
            </a:r>
            <a:endParaRPr lang="ar-SY" dirty="0"/>
          </a:p>
          <a:p>
            <a:pPr marL="0" indent="0" algn="r">
              <a:buNone/>
            </a:pPr>
            <a:r>
              <a:rPr lang="ar-SY" dirty="0"/>
              <a:t>: لتخزين ترتيب الرسم</a:t>
            </a:r>
            <a:r>
              <a:rPr lang="en-US" dirty="0"/>
              <a:t>EBO</a:t>
            </a:r>
            <a:endParaRPr lang="ar-SY" dirty="0"/>
          </a:p>
          <a:p>
            <a:pPr marL="0" indent="0" algn="r">
              <a:buNone/>
            </a:pPr>
            <a:r>
              <a:rPr lang="en-US" dirty="0"/>
              <a:t> </a:t>
            </a:r>
            <a:r>
              <a:rPr lang="ar-SY" dirty="0"/>
              <a:t> لتحديد مواقع العناصر</a:t>
            </a:r>
            <a:r>
              <a:rPr lang="en-US" dirty="0"/>
              <a:t>:VERTEX SHADER</a:t>
            </a:r>
            <a:endParaRPr lang="ar-SY" dirty="0"/>
          </a:p>
          <a:p>
            <a:pPr marL="0" indent="0" algn="r">
              <a:buNone/>
            </a:pPr>
            <a:r>
              <a:rPr lang="en-US" dirty="0"/>
              <a:t>  </a:t>
            </a:r>
            <a:r>
              <a:rPr lang="ar-SY" dirty="0"/>
              <a:t>لتحديد الالوان</a:t>
            </a:r>
            <a:r>
              <a:rPr lang="en-US" dirty="0"/>
              <a:t>:FRAGMENT SHADER</a:t>
            </a:r>
            <a:endParaRPr lang="ar-SY" dirty="0"/>
          </a:p>
          <a:p>
            <a:pPr marL="0" indent="0" algn="r">
              <a:buNone/>
            </a:pPr>
            <a:r>
              <a:rPr lang="ar-SY" dirty="0"/>
              <a:t>: لربط البرنامج بالشيدر</a:t>
            </a:r>
            <a:r>
              <a:rPr lang="en-US" dirty="0"/>
              <a:t>UNIFORM VARIBLES  </a:t>
            </a:r>
            <a:endParaRPr lang="ar-SY" dirty="0"/>
          </a:p>
          <a:p>
            <a:pPr marL="0" indent="0" algn="r">
              <a:buNone/>
            </a:pPr>
            <a:endParaRPr lang="ar-SY" dirty="0"/>
          </a:p>
          <a:p>
            <a:pPr marL="0" indent="0" algn="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294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A4FF5-01E6-C164-E70B-EBE5D04C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ar-SY" dirty="0"/>
              <a:t>كيف تم التحريك: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1FCA0-0169-C3E7-534B-4F9C93379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66154"/>
            <a:ext cx="8915400" cy="3618690"/>
          </a:xfrm>
        </p:spPr>
        <p:txBody>
          <a:bodyPr/>
          <a:lstStyle/>
          <a:p>
            <a:pPr marL="0" indent="0" algn="r">
              <a:buNone/>
            </a:pPr>
            <a:r>
              <a:rPr lang="ar-SY" dirty="0"/>
              <a:t>كيف تم التحريك؟</a:t>
            </a:r>
          </a:p>
          <a:p>
            <a:pPr marL="0" indent="0" algn="r">
              <a:buNone/>
            </a:pPr>
            <a:r>
              <a:rPr lang="ar-SY" dirty="0"/>
              <a:t>لا يوجد تحريك تلقائي في المشروع.</a:t>
            </a:r>
          </a:p>
          <a:p>
            <a:pPr marL="0" indent="0" algn="r">
              <a:buNone/>
            </a:pPr>
            <a:r>
              <a:rPr lang="ar-SY" dirty="0"/>
              <a:t>التغيير يتم من خلال إدخال المستخدم.</a:t>
            </a:r>
          </a:p>
          <a:p>
            <a:pPr marL="0" indent="0" algn="r">
              <a:buNone/>
            </a:pPr>
            <a:r>
              <a:rPr lang="ar-SY" dirty="0"/>
              <a:t>عند الضغط على الأزرار 1 أو 2 أو 3 يتم تغيير الضوء.</a:t>
            </a:r>
          </a:p>
          <a:p>
            <a:pPr marL="0" indent="0" algn="r">
              <a:buNone/>
            </a:pPr>
            <a:r>
              <a:rPr lang="ar-SY" dirty="0"/>
              <a:t>يتم تحديث اللون مباشرة داخل الشيدر.</a:t>
            </a:r>
          </a:p>
          <a:p>
            <a:pPr marL="0" indent="0" algn="r">
              <a:buNone/>
            </a:pPr>
            <a:r>
              <a:rPr lang="ar-SY" dirty="0"/>
              <a:t> )</a:t>
            </a:r>
            <a:r>
              <a:rPr lang="en-US" dirty="0"/>
              <a:t>RENDER LOOP)</a:t>
            </a:r>
            <a:r>
              <a:rPr lang="ar-SY" dirty="0"/>
              <a:t>كل ذلك يحدث داخل حلقة الرسم </a:t>
            </a:r>
            <a:r>
              <a:rPr lang="en-US" dirty="0"/>
              <a:t> 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1288037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FDACC-DE48-6C48-DCD3-789CC716F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ar-SY" dirty="0"/>
              <a:t>كيف تم ربط الألوان: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EB614-C804-4701-B614-40F145E38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9889" y="1517515"/>
            <a:ext cx="9714723" cy="2412459"/>
          </a:xfrm>
        </p:spPr>
        <p:txBody>
          <a:bodyPr/>
          <a:lstStyle/>
          <a:p>
            <a:pPr marL="0" indent="0" algn="r">
              <a:buNone/>
            </a:pPr>
            <a:r>
              <a:rPr lang="ar-SY" dirty="0"/>
              <a:t> </a:t>
            </a:r>
            <a:r>
              <a:rPr lang="en-US" dirty="0"/>
              <a:t> UNIFORM </a:t>
            </a:r>
            <a:r>
              <a:rPr lang="ar-SY" dirty="0"/>
              <a:t>باستخدام</a:t>
            </a:r>
            <a:r>
              <a:rPr lang="en-US" dirty="0"/>
              <a:t> </a:t>
            </a:r>
            <a:r>
              <a:rPr lang="ar-SY" dirty="0"/>
              <a:t> </a:t>
            </a:r>
            <a:r>
              <a:rPr lang="en-US" dirty="0"/>
              <a:t>Fragment Shader </a:t>
            </a:r>
            <a:r>
              <a:rPr lang="ar-SY" dirty="0"/>
              <a:t>تم إرسال قيمة الضوء النشط من البرنامج الرئيسي الى</a:t>
            </a:r>
            <a:endParaRPr lang="en-US" dirty="0"/>
          </a:p>
          <a:p>
            <a:pPr marL="0" indent="0" algn="r">
              <a:buNone/>
            </a:pPr>
            <a:r>
              <a:rPr lang="ar-SY" dirty="0"/>
              <a:t>داخل الشيدر يتم استخدام شروط لتحديد اللون المناسب حسب القيمة المستقبلة."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472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9D77-5F1D-257E-2A4D-06D68F106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37762"/>
          </a:xfrm>
        </p:spPr>
        <p:txBody>
          <a:bodyPr/>
          <a:lstStyle/>
          <a:p>
            <a:pPr algn="r"/>
            <a:r>
              <a:rPr lang="ar-SY" dirty="0"/>
              <a:t>كيف تم التحكم </a:t>
            </a:r>
            <a:r>
              <a:rPr lang="ar-SY" dirty="0" err="1"/>
              <a:t>بالازرار</a:t>
            </a:r>
            <a:r>
              <a:rPr lang="ar-SY" dirty="0"/>
              <a:t> 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A2676-048D-3D8D-4CE3-7C229375F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428264"/>
            <a:ext cx="8915400" cy="3777622"/>
          </a:xfrm>
        </p:spPr>
        <p:txBody>
          <a:bodyPr/>
          <a:lstStyle/>
          <a:p>
            <a:pPr marL="0" indent="0" algn="r">
              <a:buNone/>
            </a:pPr>
            <a:r>
              <a:rPr lang="ar-SY" dirty="0"/>
              <a:t>تم استخدام  هذه الدال لقراءة ضغط الازرار : </a:t>
            </a:r>
            <a:r>
              <a:rPr lang="en-US" dirty="0"/>
              <a:t> :</a:t>
            </a:r>
            <a:r>
              <a:rPr lang="en-US" dirty="0" err="1"/>
              <a:t>glfwGetKey</a:t>
            </a:r>
            <a:endParaRPr lang="ar-SY" dirty="0"/>
          </a:p>
          <a:p>
            <a:pPr marL="0" indent="0" algn="r">
              <a:buNone/>
            </a:pPr>
            <a:r>
              <a:rPr lang="ar-SY" dirty="0"/>
              <a:t>عند الضغط على 1 يتم تشغيل الأحمر.</a:t>
            </a:r>
          </a:p>
          <a:p>
            <a:pPr marL="0" indent="0" algn="r">
              <a:buNone/>
            </a:pPr>
            <a:r>
              <a:rPr lang="ar-SY" dirty="0"/>
              <a:t>عند الضغط على 2 يتم تشغيل الأصفر.</a:t>
            </a:r>
          </a:p>
          <a:p>
            <a:pPr marL="0" indent="0" algn="r">
              <a:buNone/>
            </a:pPr>
            <a:r>
              <a:rPr lang="ar-SY" dirty="0"/>
              <a:t>عند الضغط على 3 يتم تشغيل الأخضر.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86272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A1A11-7923-A31C-D60F-2729E5611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ar-SY" dirty="0"/>
              <a:t>كيف يتم بناء الدوائر: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47F99-A26A-EAB9-0AC4-40B2EFEC7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10512"/>
            <a:ext cx="8915400" cy="3249038"/>
          </a:xfrm>
        </p:spPr>
        <p:txBody>
          <a:bodyPr/>
          <a:lstStyle/>
          <a:p>
            <a:pPr marL="0" indent="0" algn="r">
              <a:buNone/>
            </a:pPr>
            <a:r>
              <a:rPr lang="ar-SY" dirty="0"/>
              <a:t>تم بناء الدوائر باستخدام المعادلات الرياضية وهما :</a:t>
            </a:r>
          </a:p>
          <a:p>
            <a:pPr marL="0" indent="0" algn="r">
              <a:buNone/>
            </a:pPr>
            <a:r>
              <a:rPr lang="en-US" sz="3600" dirty="0"/>
              <a:t>(</a:t>
            </a:r>
            <a:r>
              <a:rPr lang="en-US" sz="3600" dirty="0" err="1"/>
              <a:t>Sin,cos</a:t>
            </a:r>
            <a:r>
              <a:rPr lang="en-US" sz="3600" dirty="0"/>
              <a:t>)</a:t>
            </a:r>
            <a:endParaRPr lang="en-US" dirty="0"/>
          </a:p>
          <a:p>
            <a:pPr marL="0" indent="0" algn="r">
              <a:buNone/>
            </a:pPr>
            <a:r>
              <a:rPr lang="ar-SY" dirty="0"/>
              <a:t>حيث يتم تقسيم الدائرة إلى أجزاء صغيرة وتكوينها باستخدام مثلثات.</a:t>
            </a:r>
          </a:p>
          <a:p>
            <a:pPr marL="0" indent="0" algn="r">
              <a:buNone/>
            </a:pPr>
            <a:r>
              <a:rPr lang="ar-SY" dirty="0"/>
              <a:t>وهذا يضمن رسم الشكل بدون استخدام أي مكتبات إضافية.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331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7988D-2C25-2A11-817A-EF309136D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ar-SY" dirty="0"/>
              <a:t>المشاكل التي تم مواجهتها: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F4DC6-429A-3C6A-1053-D79C056EE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323" y="1468878"/>
            <a:ext cx="10230289" cy="2801566"/>
          </a:xfrm>
        </p:spPr>
        <p:txBody>
          <a:bodyPr/>
          <a:lstStyle/>
          <a:p>
            <a:pPr marL="0" indent="0" algn="r">
              <a:buNone/>
            </a:pPr>
            <a:r>
              <a:rPr lang="ar-SY" dirty="0"/>
              <a:t>1- رسم دائرة بدون مكتبات جاهزة :</a:t>
            </a:r>
          </a:p>
          <a:p>
            <a:pPr marL="0" indent="0" algn="r">
              <a:buNone/>
            </a:pPr>
            <a:r>
              <a:rPr lang="en-US" dirty="0"/>
              <a:t> </a:t>
            </a:r>
            <a:r>
              <a:rPr lang="ar-SY" dirty="0"/>
              <a:t> لا يوفر دالة مباشرة لرسم الدائرة .</a:t>
            </a:r>
            <a:r>
              <a:rPr lang="en-US" dirty="0" err="1"/>
              <a:t>opengl</a:t>
            </a:r>
            <a:r>
              <a:rPr lang="ar-SY" dirty="0"/>
              <a:t>المشكلة كانت </a:t>
            </a:r>
          </a:p>
          <a:p>
            <a:pPr marL="0" indent="0" algn="r">
              <a:buNone/>
            </a:pPr>
            <a:r>
              <a:rPr lang="ar-SY" dirty="0"/>
              <a:t>الحل:</a:t>
            </a:r>
          </a:p>
          <a:p>
            <a:pPr marL="0" indent="0" algn="r">
              <a:buNone/>
            </a:pPr>
            <a:r>
              <a:rPr lang="ar-SY" dirty="0"/>
              <a:t> لتوليد نقاط حول مركز الدائرة, ثم قمت بتقسيمها الى مثلثات صغيرة </a:t>
            </a:r>
            <a:r>
              <a:rPr lang="en-US" dirty="0"/>
              <a:t> </a:t>
            </a:r>
            <a:r>
              <a:rPr lang="en-US" dirty="0" err="1"/>
              <a:t>sin,cos</a:t>
            </a:r>
            <a:r>
              <a:rPr lang="ar-SY" dirty="0"/>
              <a:t> استخدمت المعادلات الرياضية 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881491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6ED40-DFF2-4E03-6305-45E78DD66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2457" y="0"/>
            <a:ext cx="8911687" cy="128089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752E3-661B-0BE7-62F7-EA69646EE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2457" y="1365091"/>
            <a:ext cx="8915400" cy="4656330"/>
          </a:xfrm>
        </p:spPr>
        <p:txBody>
          <a:bodyPr/>
          <a:lstStyle/>
          <a:p>
            <a:pPr marL="0" indent="0" algn="r">
              <a:buNone/>
            </a:pPr>
            <a:r>
              <a:rPr lang="ar-SY" dirty="0"/>
              <a:t>2-التحكم بعدة اشكال باستخدام نفس الشيدر:</a:t>
            </a:r>
          </a:p>
          <a:p>
            <a:pPr marL="0" indent="0" algn="r">
              <a:buNone/>
            </a:pPr>
            <a:r>
              <a:rPr lang="ar-SY" dirty="0"/>
              <a:t> </a:t>
            </a:r>
            <a:r>
              <a:rPr lang="ar-SY" dirty="0" err="1"/>
              <a:t>المشكلى</a:t>
            </a:r>
            <a:r>
              <a:rPr lang="ar-SY" dirty="0"/>
              <a:t> كان لدي أكثر من شكل (مثلث وثلاث دوائر) وكنت بحاجة لإعطاء كل شكل لون مختلف والتحكم به بشكل مستقل.</a:t>
            </a:r>
          </a:p>
          <a:p>
            <a:pPr marL="0" indent="0" algn="r">
              <a:buNone/>
            </a:pPr>
            <a:r>
              <a:rPr lang="en-US" dirty="0"/>
              <a:t>  </a:t>
            </a:r>
            <a:r>
              <a:rPr lang="en-US" dirty="0" err="1"/>
              <a:t>Fragmentshader</a:t>
            </a:r>
            <a:r>
              <a:rPr lang="ar-SY" dirty="0"/>
              <a:t>داخل  </a:t>
            </a:r>
            <a:r>
              <a:rPr lang="en-US" dirty="0"/>
              <a:t> </a:t>
            </a:r>
            <a:r>
              <a:rPr lang="en-US" dirty="0" err="1"/>
              <a:t>objectID</a:t>
            </a:r>
            <a:r>
              <a:rPr lang="ar-SY" dirty="0"/>
              <a:t>الحل: استخدمت متغير </a:t>
            </a:r>
            <a:endParaRPr lang="en-US" dirty="0"/>
          </a:p>
          <a:p>
            <a:pPr marL="0" indent="0" algn="r">
              <a:buNone/>
            </a:pPr>
            <a:r>
              <a:rPr lang="ar-SY" dirty="0"/>
              <a:t>وقمت بإرسال قيم مختلفة قبل رسم كل عنصر , و بداخل الشيدر استخدمت شروط:</a:t>
            </a:r>
          </a:p>
          <a:p>
            <a:pPr marL="0" indent="0" algn="r">
              <a:buNone/>
            </a:pPr>
            <a:r>
              <a:rPr lang="ar-SY" dirty="0"/>
              <a:t> لتحديد اللون المناسب لكل شكل .</a:t>
            </a:r>
            <a:r>
              <a:rPr lang="en-US" dirty="0"/>
              <a:t>If</a:t>
            </a:r>
            <a:r>
              <a:rPr lang="ar-SY" dirty="0"/>
              <a:t> </a:t>
            </a:r>
            <a:r>
              <a:rPr lang="en-US" dirty="0"/>
              <a:t>  </a:t>
            </a:r>
            <a:endParaRPr lang="ar-SY" dirty="0"/>
          </a:p>
          <a:p>
            <a:pPr marL="0" indent="0" algn="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996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9D36A-5329-C29D-CB53-4DE06F7E2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VBO,VAO ,EBO: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1A2EB01-1B7B-3B04-C4CC-CAF38EA966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553" y="1422400"/>
            <a:ext cx="4503907" cy="349979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638732-3F67-9871-A798-A901CD6AB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50588" y="1598613"/>
            <a:ext cx="5043824" cy="4262436"/>
          </a:xfrm>
        </p:spPr>
        <p:txBody>
          <a:bodyPr/>
          <a:lstStyle/>
          <a:p>
            <a:pPr algn="r"/>
            <a:r>
              <a:rPr lang="ar-SY" dirty="0"/>
              <a:t>تم استخدامهن لتنظيم عملية الرسم داخل </a:t>
            </a:r>
          </a:p>
          <a:p>
            <a:pPr algn="r"/>
            <a:r>
              <a:rPr lang="en-US" dirty="0"/>
              <a:t> OPENGL </a:t>
            </a:r>
          </a:p>
          <a:p>
            <a:pPr algn="r"/>
            <a:r>
              <a:rPr lang="ar-SY" dirty="0"/>
              <a:t>:   </a:t>
            </a:r>
            <a:r>
              <a:rPr lang="en-US" dirty="0"/>
              <a:t>VBO</a:t>
            </a:r>
            <a:endParaRPr lang="ar-SY" dirty="0"/>
          </a:p>
          <a:p>
            <a:pPr algn="r"/>
            <a:r>
              <a:rPr lang="ar-SY" dirty="0"/>
              <a:t>حيث يقوم بتخزين إحداثيات النقاط الخاصة بالأشكال داخل ذاكرة كرت الشاشة،</a:t>
            </a:r>
            <a:endParaRPr lang="en-US" dirty="0"/>
          </a:p>
          <a:p>
            <a:pPr algn="r"/>
            <a:r>
              <a:rPr lang="en-US" dirty="0"/>
              <a:t> :VAO</a:t>
            </a:r>
          </a:p>
          <a:p>
            <a:pPr algn="r"/>
            <a:r>
              <a:rPr lang="ar-SY" dirty="0"/>
              <a:t>يقوم  بحفظ إعدادات الربط بين البيانات والشيدر وتنظيم طريقة استخدامها أثناء الرسم</a:t>
            </a:r>
            <a:endParaRPr lang="en-US" dirty="0"/>
          </a:p>
          <a:p>
            <a:pPr algn="r"/>
            <a:r>
              <a:rPr lang="en-US" dirty="0"/>
              <a:t> :EBO</a:t>
            </a:r>
          </a:p>
          <a:p>
            <a:pPr algn="r"/>
            <a:r>
              <a:rPr lang="ar-SY" dirty="0"/>
              <a:t>يقوم بتحديد ترتيب رسم النقاط باستخدام المؤشرات وتقليل تكرار البيانات، مما يجعل عملية الرسم أكثر كفاءة وتنظيماً.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384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F4ABF-232A-5D4D-5DE3-A192E4B8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528" y="446088"/>
            <a:ext cx="4255883" cy="976312"/>
          </a:xfrm>
        </p:spPr>
        <p:txBody>
          <a:bodyPr/>
          <a:lstStyle/>
          <a:p>
            <a:r>
              <a:rPr lang="en-US" dirty="0"/>
              <a:t> vertex shader: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63F9F93-5FB0-6D08-AE6D-188530E241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295" y="1422400"/>
            <a:ext cx="5181600" cy="228718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F2FB59-CA60-5FA9-16EB-620813918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91055" y="1578364"/>
            <a:ext cx="4703356" cy="4262436"/>
          </a:xfrm>
        </p:spPr>
        <p:txBody>
          <a:bodyPr/>
          <a:lstStyle/>
          <a:p>
            <a:pPr algn="r"/>
            <a:r>
              <a:rPr lang="ar-SY" dirty="0"/>
              <a:t>مسؤول عن تحديد موقع كل نقطة في المشهد.</a:t>
            </a:r>
          </a:p>
          <a:p>
            <a:pPr algn="r"/>
            <a:r>
              <a:rPr lang="ar-SY" dirty="0"/>
              <a:t>يقوم باستقبال إحداثيات النقاط من</a:t>
            </a:r>
            <a:endParaRPr lang="en-US" dirty="0"/>
          </a:p>
          <a:p>
            <a:pPr algn="r"/>
            <a:r>
              <a:rPr lang="en-US" dirty="0" err="1"/>
              <a:t>vbo</a:t>
            </a:r>
            <a:endParaRPr lang="en-US" dirty="0"/>
          </a:p>
          <a:p>
            <a:pPr algn="r"/>
            <a:r>
              <a:rPr lang="ar-SY" dirty="0"/>
              <a:t> التي تحدد مكانها على الشاشة</a:t>
            </a:r>
            <a:r>
              <a:rPr lang="en-US" dirty="0" err="1"/>
              <a:t>gl_Position</a:t>
            </a:r>
            <a:r>
              <a:rPr lang="en-US" dirty="0"/>
              <a:t> </a:t>
            </a:r>
            <a:r>
              <a:rPr lang="ar-SY" dirty="0"/>
              <a:t>و يعين قيمة</a:t>
            </a:r>
          </a:p>
          <a:p>
            <a:pPr algn="r"/>
            <a:r>
              <a:rPr lang="ar-SY" dirty="0"/>
              <a:t>وأي تحريك أو تحويل هندسي يتم عادة داخل هذه المرحلة.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188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96743-F1E4-0FE4-1E3D-957FF9F00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260" y="446088"/>
            <a:ext cx="4139151" cy="976312"/>
          </a:xfrm>
        </p:spPr>
        <p:txBody>
          <a:bodyPr/>
          <a:lstStyle/>
          <a:p>
            <a:r>
              <a:rPr lang="en-US" dirty="0"/>
              <a:t>Fragment shader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51F3E02-146E-68B9-F4FC-2A49B6FB43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566" y="1275081"/>
            <a:ext cx="5181600" cy="325800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B34C4C-EBA3-EFAB-D724-D43AB2549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55260" y="1422400"/>
            <a:ext cx="4139151" cy="3013413"/>
          </a:xfrm>
        </p:spPr>
        <p:txBody>
          <a:bodyPr>
            <a:normAutofit/>
          </a:bodyPr>
          <a:lstStyle/>
          <a:p>
            <a:pPr algn="r"/>
            <a:r>
              <a:rPr lang="ar-SY" sz="2000" dirty="0"/>
              <a:t>وهي المرحلة المسؤولة عن تحديد لون كل بكسل في الشكل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27334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6DD89-5166-6A13-F353-DBD08948A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30C51CA-F0CF-BFC9-C89E-265C7B30D5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838" y="1527243"/>
            <a:ext cx="5181600" cy="355059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32A88A-93E9-A235-79E1-F812D751B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r"/>
            <a:r>
              <a:rPr lang="ar-SY" dirty="0"/>
              <a:t>هو يلي </a:t>
            </a:r>
            <a:r>
              <a:rPr lang="ar-SY" dirty="0" err="1"/>
              <a:t>بيربط</a:t>
            </a:r>
            <a:r>
              <a:rPr lang="ar-SY" dirty="0"/>
              <a:t> البرنامج بالشيدر </a:t>
            </a:r>
          </a:p>
          <a:p>
            <a:pPr algn="r"/>
            <a:r>
              <a:rPr lang="ar-SY" dirty="0"/>
              <a:t>فتكون المراحل:</a:t>
            </a:r>
          </a:p>
          <a:p>
            <a:pPr algn="r"/>
            <a:r>
              <a:rPr lang="ar-SY" dirty="0"/>
              <a:t>1- البرنامج يرسل قيمة</a:t>
            </a:r>
          </a:p>
          <a:p>
            <a:pPr algn="r"/>
            <a:r>
              <a:rPr lang="ar-SY" dirty="0"/>
              <a:t>2- الشيدر يستقبلها</a:t>
            </a:r>
          </a:p>
          <a:p>
            <a:pPr algn="r"/>
            <a:r>
              <a:rPr lang="ar-SY" dirty="0"/>
              <a:t>3- و يستخدمها لتغيير اللون او الشكل اثناء التشغيل.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369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B39D3-8EDF-2FC4-ADA4-060EA2E20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Done by: </a:t>
            </a:r>
            <a:r>
              <a:rPr lang="en-US" dirty="0" err="1"/>
              <a:t>ghina</a:t>
            </a:r>
            <a:r>
              <a:rPr lang="en-US"/>
              <a:t> khatib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9848F-C60A-12E7-AB96-6FB57BE6D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8416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109</TotalTime>
  <Words>532</Words>
  <Application>Microsoft Office PowerPoint</Application>
  <PresentationFormat>Widescreen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Wisp</vt:lpstr>
      <vt:lpstr>CG PROJECT</vt:lpstr>
      <vt:lpstr>فكرة المشروع:</vt:lpstr>
      <vt:lpstr>التقنيات المستخدمة: </vt:lpstr>
      <vt:lpstr>كيف تم التحريك:</vt:lpstr>
      <vt:lpstr>كيف تم ربط الألوان:</vt:lpstr>
      <vt:lpstr>كيف تم التحكم بالازرار :</vt:lpstr>
      <vt:lpstr>كيف يتم بناء الدوائر:</vt:lpstr>
      <vt:lpstr>المشاكل التي تم مواجهتها:</vt:lpstr>
      <vt:lpstr>PowerPoint Presentation</vt:lpstr>
      <vt:lpstr>VBO,VAO ,EBO:</vt:lpstr>
      <vt:lpstr> vertex shader:</vt:lpstr>
      <vt:lpstr>Fragment shader</vt:lpstr>
      <vt:lpstr>UNIFORM:</vt:lpstr>
      <vt:lpstr>Done by: ghina khatib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 PROJECT</dc:title>
  <dc:creator>ASUS</dc:creator>
  <cp:lastModifiedBy>ASUS</cp:lastModifiedBy>
  <cp:revision>1</cp:revision>
  <dcterms:created xsi:type="dcterms:W3CDTF">2026-02-27T16:48:05Z</dcterms:created>
  <dcterms:modified xsi:type="dcterms:W3CDTF">2026-02-27T18:37:10Z</dcterms:modified>
</cp:coreProperties>
</file>